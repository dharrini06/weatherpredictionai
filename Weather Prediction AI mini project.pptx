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3" r:id="rId5"/>
    <p:sldId id="258" r:id="rId6"/>
    <p:sldId id="260" r:id="rId7"/>
    <p:sldId id="267" r:id="rId8"/>
    <p:sldId id="268" r:id="rId9"/>
    <p:sldId id="261" r:id="rId10"/>
    <p:sldId id="265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B73585-903C-4177-AD2D-DFA4C2877EC1}" v="65" dt="2025-10-20T18:02:44.1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-876" y="-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 Harini" userId="f9280a8dc068fb33" providerId="LiveId" clId="{C49C1DDF-4A1C-46A9-AF51-0E685ABBB218}"/>
    <pc:docChg chg="undo redo custSel addSld delSld modSld">
      <pc:chgData name="K Harini" userId="f9280a8dc068fb33" providerId="LiveId" clId="{C49C1DDF-4A1C-46A9-AF51-0E685ABBB218}" dt="2025-10-20T18:02:44.180" v="561"/>
      <pc:docMkLst>
        <pc:docMk/>
      </pc:docMkLst>
      <pc:sldChg chg="modSp mod">
        <pc:chgData name="K Harini" userId="f9280a8dc068fb33" providerId="LiveId" clId="{C49C1DDF-4A1C-46A9-AF51-0E685ABBB218}" dt="2025-10-20T17:58:46.120" v="554" actId="20577"/>
        <pc:sldMkLst>
          <pc:docMk/>
          <pc:sldMk cId="2720793846" sldId="256"/>
        </pc:sldMkLst>
        <pc:spChg chg="mod">
          <ac:chgData name="K Harini" userId="f9280a8dc068fb33" providerId="LiveId" clId="{C49C1DDF-4A1C-46A9-AF51-0E685ABBB218}" dt="2025-10-20T17:58:46.120" v="554" actId="20577"/>
          <ac:spMkLst>
            <pc:docMk/>
            <pc:sldMk cId="2720793846" sldId="256"/>
            <ac:spMk id="7" creationId="{5BEE647A-5606-A6E5-93DB-A43A8FC2D88A}"/>
          </ac:spMkLst>
        </pc:spChg>
        <pc:graphicFrameChg chg="modGraphic">
          <ac:chgData name="K Harini" userId="f9280a8dc068fb33" providerId="LiveId" clId="{C49C1DDF-4A1C-46A9-AF51-0E685ABBB218}" dt="2025-10-20T09:49:42.352" v="23" actId="20577"/>
          <ac:graphicFrameMkLst>
            <pc:docMk/>
            <pc:sldMk cId="2720793846" sldId="256"/>
            <ac:graphicFrameMk id="11" creationId="{B39E0012-B3AF-E718-6BBA-5D37629E4005}"/>
          </ac:graphicFrameMkLst>
        </pc:graphicFrameChg>
      </pc:sldChg>
      <pc:sldChg chg="modSp mod">
        <pc:chgData name="K Harini" userId="f9280a8dc068fb33" providerId="LiveId" clId="{C49C1DDF-4A1C-46A9-AF51-0E685ABBB218}" dt="2025-10-20T10:01:59.598" v="61" actId="27636"/>
        <pc:sldMkLst>
          <pc:docMk/>
          <pc:sldMk cId="1816614792" sldId="257"/>
        </pc:sldMkLst>
        <pc:spChg chg="mod">
          <ac:chgData name="K Harini" userId="f9280a8dc068fb33" providerId="LiveId" clId="{C49C1DDF-4A1C-46A9-AF51-0E685ABBB218}" dt="2025-10-20T10:01:59.598" v="61" actId="27636"/>
          <ac:spMkLst>
            <pc:docMk/>
            <pc:sldMk cId="1816614792" sldId="257"/>
            <ac:spMk id="3" creationId="{FAE17474-C476-1051-3F37-A2159E2BEE57}"/>
          </ac:spMkLst>
        </pc:spChg>
      </pc:sldChg>
      <pc:sldChg chg="modSp mod">
        <pc:chgData name="K Harini" userId="f9280a8dc068fb33" providerId="LiveId" clId="{C49C1DDF-4A1C-46A9-AF51-0E685ABBB218}" dt="2025-10-20T18:02:44.180" v="561"/>
        <pc:sldMkLst>
          <pc:docMk/>
          <pc:sldMk cId="519586359" sldId="258"/>
        </pc:sldMkLst>
        <pc:graphicFrameChg chg="mod modGraphic">
          <ac:chgData name="K Harini" userId="f9280a8dc068fb33" providerId="LiveId" clId="{C49C1DDF-4A1C-46A9-AF51-0E685ABBB218}" dt="2025-10-20T18:02:44.180" v="561"/>
          <ac:graphicFrameMkLst>
            <pc:docMk/>
            <pc:sldMk cId="519586359" sldId="258"/>
            <ac:graphicFrameMk id="7" creationId="{ACE64048-76D1-E559-97A6-1E9DA8CC9F64}"/>
          </ac:graphicFrameMkLst>
        </pc:graphicFrameChg>
      </pc:sldChg>
      <pc:sldChg chg="modSp mod">
        <pc:chgData name="K Harini" userId="f9280a8dc068fb33" providerId="LiveId" clId="{C49C1DDF-4A1C-46A9-AF51-0E685ABBB218}" dt="2025-10-20T10:06:03.473" v="147" actId="27636"/>
        <pc:sldMkLst>
          <pc:docMk/>
          <pc:sldMk cId="2832692384" sldId="259"/>
        </pc:sldMkLst>
        <pc:spChg chg="mod">
          <ac:chgData name="K Harini" userId="f9280a8dc068fb33" providerId="LiveId" clId="{C49C1DDF-4A1C-46A9-AF51-0E685ABBB218}" dt="2025-10-20T10:06:03.473" v="147" actId="27636"/>
          <ac:spMkLst>
            <pc:docMk/>
            <pc:sldMk cId="2832692384" sldId="259"/>
            <ac:spMk id="3" creationId="{FE67243E-1300-82BE-9968-6837E801AFFC}"/>
          </ac:spMkLst>
        </pc:spChg>
      </pc:sldChg>
      <pc:sldChg chg="addSp modSp mod">
        <pc:chgData name="K Harini" userId="f9280a8dc068fb33" providerId="LiveId" clId="{C49C1DDF-4A1C-46A9-AF51-0E685ABBB218}" dt="2025-10-20T17:04:35.345" v="294" actId="14100"/>
        <pc:sldMkLst>
          <pc:docMk/>
          <pc:sldMk cId="2805269521" sldId="260"/>
        </pc:sldMkLst>
        <pc:spChg chg="mod">
          <ac:chgData name="K Harini" userId="f9280a8dc068fb33" providerId="LiveId" clId="{C49C1DDF-4A1C-46A9-AF51-0E685ABBB218}" dt="2025-10-20T17:04:30.870" v="293" actId="255"/>
          <ac:spMkLst>
            <pc:docMk/>
            <pc:sldMk cId="2805269521" sldId="260"/>
            <ac:spMk id="3" creationId="{CB511744-1841-7314-5231-7CC4C07DDED0}"/>
          </ac:spMkLst>
        </pc:spChg>
        <pc:picChg chg="add mod">
          <ac:chgData name="K Harini" userId="f9280a8dc068fb33" providerId="LiveId" clId="{C49C1DDF-4A1C-46A9-AF51-0E685ABBB218}" dt="2025-10-20T17:04:35.345" v="294" actId="14100"/>
          <ac:picMkLst>
            <pc:docMk/>
            <pc:sldMk cId="2805269521" sldId="260"/>
            <ac:picMk id="6" creationId="{4AA2EF04-B0E4-2818-5427-D20074347017}"/>
          </ac:picMkLst>
        </pc:picChg>
      </pc:sldChg>
      <pc:sldChg chg="addSp modSp mod">
        <pc:chgData name="K Harini" userId="f9280a8dc068fb33" providerId="LiveId" clId="{C49C1DDF-4A1C-46A9-AF51-0E685ABBB218}" dt="2025-10-20T17:12:31.736" v="433" actId="20577"/>
        <pc:sldMkLst>
          <pc:docMk/>
          <pc:sldMk cId="1263363521" sldId="261"/>
        </pc:sldMkLst>
        <pc:spChg chg="mod">
          <ac:chgData name="K Harini" userId="f9280a8dc068fb33" providerId="LiveId" clId="{C49C1DDF-4A1C-46A9-AF51-0E685ABBB218}" dt="2025-10-20T17:12:31.736" v="433" actId="20577"/>
          <ac:spMkLst>
            <pc:docMk/>
            <pc:sldMk cId="1263363521" sldId="261"/>
            <ac:spMk id="3" creationId="{4B9409AF-1BD6-CFDC-B172-AD3D38536AC2}"/>
          </ac:spMkLst>
        </pc:spChg>
        <pc:picChg chg="add mod">
          <ac:chgData name="K Harini" userId="f9280a8dc068fb33" providerId="LiveId" clId="{C49C1DDF-4A1C-46A9-AF51-0E685ABBB218}" dt="2025-10-20T17:01:40.514" v="251"/>
          <ac:picMkLst>
            <pc:docMk/>
            <pc:sldMk cId="1263363521" sldId="261"/>
            <ac:picMk id="6" creationId="{2A96A6C4-7857-7EFA-5CA3-4EB927052267}"/>
          </ac:picMkLst>
        </pc:picChg>
      </pc:sldChg>
      <pc:sldChg chg="modSp mod">
        <pc:chgData name="K Harini" userId="f9280a8dc068fb33" providerId="LiveId" clId="{C49C1DDF-4A1C-46A9-AF51-0E685ABBB218}" dt="2025-10-20T17:19:49.071" v="494" actId="5793"/>
        <pc:sldMkLst>
          <pc:docMk/>
          <pc:sldMk cId="752607158" sldId="262"/>
        </pc:sldMkLst>
        <pc:spChg chg="mod">
          <ac:chgData name="K Harini" userId="f9280a8dc068fb33" providerId="LiveId" clId="{C49C1DDF-4A1C-46A9-AF51-0E685ABBB218}" dt="2025-10-20T17:19:49.071" v="494" actId="5793"/>
          <ac:spMkLst>
            <pc:docMk/>
            <pc:sldMk cId="752607158" sldId="262"/>
            <ac:spMk id="3" creationId="{D3AB1971-AF7F-80EE-26ED-EA8A7E8C7C21}"/>
          </ac:spMkLst>
        </pc:spChg>
      </pc:sldChg>
      <pc:sldChg chg="modSp add mod">
        <pc:chgData name="K Harini" userId="f9280a8dc068fb33" providerId="LiveId" clId="{C49C1DDF-4A1C-46A9-AF51-0E685ABBB218}" dt="2025-10-20T17:14:46.519" v="458" actId="113"/>
        <pc:sldMkLst>
          <pc:docMk/>
          <pc:sldMk cId="1837271227" sldId="263"/>
        </pc:sldMkLst>
        <pc:spChg chg="mod">
          <ac:chgData name="K Harini" userId="f9280a8dc068fb33" providerId="LiveId" clId="{C49C1DDF-4A1C-46A9-AF51-0E685ABBB218}" dt="2025-10-20T17:14:46.519" v="458" actId="113"/>
          <ac:spMkLst>
            <pc:docMk/>
            <pc:sldMk cId="1837271227" sldId="263"/>
            <ac:spMk id="3" creationId="{D43F1624-D8B0-39D8-1C6F-BCD4B3C0201E}"/>
          </ac:spMkLst>
        </pc:spChg>
      </pc:sldChg>
      <pc:sldChg chg="addSp delSp modSp add mod setBg">
        <pc:chgData name="K Harini" userId="f9280a8dc068fb33" providerId="LiveId" clId="{C49C1DDF-4A1C-46A9-AF51-0E685ABBB218}" dt="2025-10-20T17:11:44.652" v="393" actId="14100"/>
        <pc:sldMkLst>
          <pc:docMk/>
          <pc:sldMk cId="3068120339" sldId="264"/>
        </pc:sldMkLst>
        <pc:spChg chg="mod">
          <ac:chgData name="K Harini" userId="f9280a8dc068fb33" providerId="LiveId" clId="{C49C1DDF-4A1C-46A9-AF51-0E685ABBB218}" dt="2025-10-20T17:10:25.763" v="366" actId="26606"/>
          <ac:spMkLst>
            <pc:docMk/>
            <pc:sldMk cId="3068120339" sldId="264"/>
            <ac:spMk id="2" creationId="{D3D4E80F-0097-E9C3-7382-360052E7B917}"/>
          </ac:spMkLst>
        </pc:spChg>
        <pc:spChg chg="mod">
          <ac:chgData name="K Harini" userId="f9280a8dc068fb33" providerId="LiveId" clId="{C49C1DDF-4A1C-46A9-AF51-0E685ABBB218}" dt="2025-10-20T17:11:26.565" v="391" actId="20577"/>
          <ac:spMkLst>
            <pc:docMk/>
            <pc:sldMk cId="3068120339" sldId="264"/>
            <ac:spMk id="3" creationId="{5481DD49-2B31-B5DE-1072-47D8565B3949}"/>
          </ac:spMkLst>
        </pc:spChg>
        <pc:spChg chg="mod">
          <ac:chgData name="K Harini" userId="f9280a8dc068fb33" providerId="LiveId" clId="{C49C1DDF-4A1C-46A9-AF51-0E685ABBB218}" dt="2025-10-20T17:10:25.763" v="366" actId="26606"/>
          <ac:spMkLst>
            <pc:docMk/>
            <pc:sldMk cId="3068120339" sldId="264"/>
            <ac:spMk id="4" creationId="{0968410B-BCDE-C84E-52FF-8E1CC22612F4}"/>
          </ac:spMkLst>
        </pc:spChg>
        <pc:spChg chg="mod">
          <ac:chgData name="K Harini" userId="f9280a8dc068fb33" providerId="LiveId" clId="{C49C1DDF-4A1C-46A9-AF51-0E685ABBB218}" dt="2025-10-20T17:10:25.763" v="366" actId="26606"/>
          <ac:spMkLst>
            <pc:docMk/>
            <pc:sldMk cId="3068120339" sldId="264"/>
            <ac:spMk id="5" creationId="{BDCE6E0F-A9EE-2542-7F8C-4E2ECB888AAA}"/>
          </ac:spMkLst>
        </pc:spChg>
        <pc:spChg chg="add del">
          <ac:chgData name="K Harini" userId="f9280a8dc068fb33" providerId="LiveId" clId="{C49C1DDF-4A1C-46A9-AF51-0E685ABBB218}" dt="2025-10-20T17:10:25.763" v="366" actId="26606"/>
          <ac:spMkLst>
            <pc:docMk/>
            <pc:sldMk cId="3068120339" sldId="264"/>
            <ac:spMk id="12" creationId="{45D37F4E-DDB4-456B-97E0-9937730A039F}"/>
          </ac:spMkLst>
        </pc:spChg>
        <pc:spChg chg="add del">
          <ac:chgData name="K Harini" userId="f9280a8dc068fb33" providerId="LiveId" clId="{C49C1DDF-4A1C-46A9-AF51-0E685ABBB218}" dt="2025-10-20T17:10:25.763" v="366" actId="26606"/>
          <ac:spMkLst>
            <pc:docMk/>
            <pc:sldMk cId="3068120339" sldId="264"/>
            <ac:spMk id="14" creationId="{B2DD41CD-8F47-4F56-AD12-4E2FF7696987}"/>
          </ac:spMkLst>
        </pc:spChg>
        <pc:picChg chg="del">
          <ac:chgData name="K Harini" userId="f9280a8dc068fb33" providerId="LiveId" clId="{C49C1DDF-4A1C-46A9-AF51-0E685ABBB218}" dt="2025-10-20T17:04:54.368" v="296" actId="478"/>
          <ac:picMkLst>
            <pc:docMk/>
            <pc:sldMk cId="3068120339" sldId="264"/>
            <ac:picMk id="6" creationId="{1DE9ED1E-BF65-503B-AD8B-E8939764157E}"/>
          </ac:picMkLst>
        </pc:picChg>
        <pc:picChg chg="add mod ord">
          <ac:chgData name="K Harini" userId="f9280a8dc068fb33" providerId="LiveId" clId="{C49C1DDF-4A1C-46A9-AF51-0E685ABBB218}" dt="2025-10-20T17:11:44.652" v="393" actId="14100"/>
          <ac:picMkLst>
            <pc:docMk/>
            <pc:sldMk cId="3068120339" sldId="264"/>
            <ac:picMk id="7" creationId="{81A820CC-E106-8711-5A13-C49211D16C0C}"/>
          </ac:picMkLst>
        </pc:picChg>
      </pc:sldChg>
      <pc:sldChg chg="modSp add mod">
        <pc:chgData name="K Harini" userId="f9280a8dc068fb33" providerId="LiveId" clId="{C49C1DDF-4A1C-46A9-AF51-0E685ABBB218}" dt="2025-10-20T17:13:18.360" v="446" actId="20577"/>
        <pc:sldMkLst>
          <pc:docMk/>
          <pc:sldMk cId="1164879705" sldId="265"/>
        </pc:sldMkLst>
        <pc:spChg chg="mod">
          <ac:chgData name="K Harini" userId="f9280a8dc068fb33" providerId="LiveId" clId="{C49C1DDF-4A1C-46A9-AF51-0E685ABBB218}" dt="2025-10-20T17:13:18.360" v="446" actId="20577"/>
          <ac:spMkLst>
            <pc:docMk/>
            <pc:sldMk cId="1164879705" sldId="265"/>
            <ac:spMk id="3" creationId="{E39BF234-03FB-99B7-1FAD-E73A077F6A4D}"/>
          </ac:spMkLst>
        </pc:spChg>
      </pc:sldChg>
      <pc:sldChg chg="modSp add del mod">
        <pc:chgData name="K Harini" userId="f9280a8dc068fb33" providerId="LiveId" clId="{C49C1DDF-4A1C-46A9-AF51-0E685ABBB218}" dt="2025-10-20T17:10:23.265" v="362" actId="2890"/>
        <pc:sldMkLst>
          <pc:docMk/>
          <pc:sldMk cId="3731712274" sldId="265"/>
        </pc:sldMkLst>
        <pc:spChg chg="mod">
          <ac:chgData name="K Harini" userId="f9280a8dc068fb33" providerId="LiveId" clId="{C49C1DDF-4A1C-46A9-AF51-0E685ABBB218}" dt="2025-10-20T17:10:21.770" v="356" actId="255"/>
          <ac:spMkLst>
            <pc:docMk/>
            <pc:sldMk cId="3731712274" sldId="265"/>
            <ac:spMk id="3" creationId="{DF0B9229-C0EF-24BE-0FA0-05F46AB51EA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tkinter.html" TargetMode="External"/><Relationship Id="rId2" Type="http://schemas.openxmlformats.org/officeDocument/2006/relationships/hyperlink" Target="https://aima.cs.berkeley.ed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naive_bayes.html" TargetMode="External"/><Relationship Id="rId4" Type="http://schemas.openxmlformats.org/officeDocument/2006/relationships/hyperlink" Target="https://pandas.pydata.org/doc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19315" y="1338370"/>
            <a:ext cx="12801599" cy="2420830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CSE (ARTIFICIAL INTELLIGENCE AND MACHINE LEARNING)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III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ARTIFICIAL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INTELLIGENCE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200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WEATHER PREDICTION USING NAÏVE BAYES CLASSIFIER AND PROBABILISTIC REASONING</a:t>
            </a:r>
            <a:endParaRPr lang="en-US" sz="2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9642432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xmlns="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xmlns="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2117240030028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DHARRINI</a:t>
                      </a:r>
                      <a:r>
                        <a:rPr lang="en-US" baseline="0" dirty="0" smtClean="0"/>
                        <a:t> SELVI 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Mrs. M. Divya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xmlns="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11/4/2025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xmlns="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92500" lnSpcReduction="10000"/>
          </a:bodyPr>
          <a:lstStyle/>
          <a:p>
            <a:r>
              <a:rPr lang="en-GB" sz="2000" b="1" dirty="0"/>
              <a:t>Artificial Intelligence (AI)</a:t>
            </a:r>
            <a:r>
              <a:rPr lang="en-GB" sz="2000" dirty="0"/>
              <a:t> enables computers to make intelligent decisions and predictions from real-world data.</a:t>
            </a:r>
          </a:p>
          <a:p>
            <a:r>
              <a:rPr lang="en-GB" sz="2000" b="1" dirty="0"/>
              <a:t>Probabilistic reasoning</a:t>
            </a:r>
            <a:r>
              <a:rPr lang="en-GB" sz="2000" dirty="0"/>
              <a:t> allows AI systems to handle uncertainty in data and make reliable predictions even when inputs are variable.</a:t>
            </a:r>
          </a:p>
          <a:p>
            <a:r>
              <a:rPr lang="en-GB" sz="2000" dirty="0"/>
              <a:t>This project focuses on </a:t>
            </a:r>
            <a:r>
              <a:rPr lang="en-GB" sz="2000" b="1" dirty="0"/>
              <a:t>predicting whether the weather is suitable for outdoor activities</a:t>
            </a:r>
            <a:r>
              <a:rPr lang="en-GB" sz="2000" dirty="0"/>
              <a:t> (Play or Don’t Play) using probabilistic reasoning.</a:t>
            </a:r>
          </a:p>
          <a:p>
            <a:r>
              <a:rPr lang="en-GB" sz="2000" b="1" dirty="0"/>
              <a:t>Naïve Bayes classification</a:t>
            </a:r>
            <a:r>
              <a:rPr lang="en-GB" sz="2000" dirty="0"/>
              <a:t> is applied to </a:t>
            </a:r>
            <a:r>
              <a:rPr lang="en-GB" sz="2000" dirty="0" err="1"/>
              <a:t>analyze</a:t>
            </a:r>
            <a:r>
              <a:rPr lang="en-GB" sz="2000" dirty="0"/>
              <a:t> dependencies between weather parameters such as </a:t>
            </a:r>
            <a:r>
              <a:rPr lang="en-GB" sz="2000" i="1" dirty="0"/>
              <a:t>Outlook, Temperature, Humidity,</a:t>
            </a:r>
            <a:r>
              <a:rPr lang="en-GB" sz="2000" dirty="0"/>
              <a:t> and </a:t>
            </a:r>
            <a:r>
              <a:rPr lang="en-GB" sz="2000" i="1" dirty="0"/>
              <a:t>Windy</a:t>
            </a:r>
            <a:r>
              <a:rPr lang="en-GB" sz="2000" dirty="0"/>
              <a:t>.</a:t>
            </a:r>
          </a:p>
          <a:p>
            <a:r>
              <a:rPr lang="en-GB" sz="2000" dirty="0"/>
              <a:t>The model learns from past weather data to estimate the probability of </a:t>
            </a:r>
            <a:r>
              <a:rPr lang="en-GB" sz="2000" dirty="0" err="1"/>
              <a:t>favorable</a:t>
            </a:r>
            <a:r>
              <a:rPr lang="en-GB" sz="2000" dirty="0"/>
              <a:t> weather conditions for outdoor play.</a:t>
            </a:r>
          </a:p>
          <a:p>
            <a:r>
              <a:rPr lang="en-GB" sz="2000" dirty="0"/>
              <a:t>The main objective is to </a:t>
            </a:r>
            <a:r>
              <a:rPr lang="en-GB" sz="2000" b="1" dirty="0"/>
              <a:t>predict the likelihood of good weather conditions</a:t>
            </a:r>
            <a:r>
              <a:rPr lang="en-GB" sz="2000" dirty="0"/>
              <a:t> given a set of current weather inputs.</a:t>
            </a:r>
          </a:p>
          <a:p>
            <a:r>
              <a:rPr lang="en-GB" sz="2000" dirty="0"/>
              <a:t>A simple and user-friendly </a:t>
            </a:r>
            <a:r>
              <a:rPr lang="en-GB" sz="2000" b="1" dirty="0"/>
              <a:t>Graphical User Interface (GUI)</a:t>
            </a:r>
            <a:r>
              <a:rPr lang="en-GB" sz="2000" dirty="0"/>
              <a:t> is developed using </a:t>
            </a:r>
            <a:r>
              <a:rPr lang="en-GB" sz="2000" b="1" dirty="0" err="1"/>
              <a:t>Tkinter</a:t>
            </a:r>
            <a:r>
              <a:rPr lang="en-GB" sz="2000" dirty="0"/>
              <a:t> to allow users to input weather details and view predictions instantly.</a:t>
            </a:r>
          </a:p>
          <a:p>
            <a:r>
              <a:rPr lang="en-GB" sz="2000" dirty="0"/>
              <a:t>The project demonstrates the effectiveness of </a:t>
            </a:r>
            <a:r>
              <a:rPr lang="en-GB" sz="2000" b="1" dirty="0"/>
              <a:t>Naïve Bayes probabilistic reasoning</a:t>
            </a:r>
            <a:r>
              <a:rPr lang="en-GB" sz="2000" dirty="0"/>
              <a:t> in decision-making under uncertainty.</a:t>
            </a:r>
          </a:p>
          <a:p>
            <a:r>
              <a:rPr lang="en-GB" sz="2000" dirty="0"/>
              <a:t>Model performance and interpretability highlight how </a:t>
            </a:r>
            <a:r>
              <a:rPr lang="en-GB" sz="2000" b="1" dirty="0"/>
              <a:t>AI-based probabilistic models</a:t>
            </a:r>
            <a:r>
              <a:rPr lang="en-GB" sz="2000" dirty="0"/>
              <a:t> can support intelligent weather-based decision systems.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xmlns:a14="http://schemas.microsoft.com/office/drawing/2010/main" xmlns:mc="http://schemas.openxmlformats.org/markup-compatibility/2006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693400" cy="5404852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dirty="0" smtClean="0"/>
          </a:p>
          <a:p>
            <a:r>
              <a:rPr lang="en-GB" sz="1800" b="1" dirty="0"/>
              <a:t>Weather prediction</a:t>
            </a:r>
            <a:r>
              <a:rPr lang="en-GB" sz="1800" dirty="0"/>
              <a:t> is a probabilistic reasoning task where weather attributes determine the likelihood of a condition (e.g., Good or Bad Weather).</a:t>
            </a:r>
          </a:p>
          <a:p>
            <a:r>
              <a:rPr lang="en-GB" sz="1800" b="1" dirty="0"/>
              <a:t>Naïve Bayes Classifier</a:t>
            </a:r>
            <a:r>
              <a:rPr lang="en-GB" sz="1800" dirty="0"/>
              <a:t> predicts outcomes using Bayes’ theorem:</a:t>
            </a:r>
          </a:p>
          <a:p>
            <a:endParaRPr lang="en-GB" sz="1800" dirty="0" smtClean="0"/>
          </a:p>
          <a:p>
            <a:endParaRPr lang="en-GB" sz="1800" dirty="0" smtClean="0"/>
          </a:p>
          <a:p>
            <a:r>
              <a:rPr lang="en-GB" sz="1800" dirty="0" smtClean="0"/>
              <a:t>It </a:t>
            </a:r>
            <a:r>
              <a:rPr lang="en-GB" sz="1800" dirty="0"/>
              <a:t>assumes </a:t>
            </a:r>
            <a:r>
              <a:rPr lang="en-GB" sz="1800" b="1" dirty="0"/>
              <a:t>conditional independence</a:t>
            </a:r>
            <a:r>
              <a:rPr lang="en-GB" sz="1800" dirty="0"/>
              <a:t> among weather features given the target variable.</a:t>
            </a:r>
          </a:p>
          <a:p>
            <a:r>
              <a:rPr lang="en-GB" sz="1800" b="1" dirty="0"/>
              <a:t>Bayesian Networks</a:t>
            </a:r>
            <a:r>
              <a:rPr lang="en-GB" sz="1800" dirty="0"/>
              <a:t> represent dependencies between variables through nodes and edges, defining the joint probability:</a:t>
            </a:r>
          </a:p>
          <a:p>
            <a:endParaRPr lang="en-GB" sz="1800" b="1" dirty="0" smtClean="0"/>
          </a:p>
          <a:p>
            <a:r>
              <a:rPr lang="en-GB" sz="1800" b="1" dirty="0" smtClean="0"/>
              <a:t>Inference</a:t>
            </a:r>
            <a:r>
              <a:rPr lang="en-GB" sz="1800" dirty="0" smtClean="0"/>
              <a:t> </a:t>
            </a:r>
            <a:r>
              <a:rPr lang="en-GB" sz="1800" dirty="0"/>
              <a:t>computes the probability of weather outcomes based on observed evidence.</a:t>
            </a:r>
          </a:p>
          <a:p>
            <a:r>
              <a:rPr lang="en-GB" sz="1800" dirty="0"/>
              <a:t>Both </a:t>
            </a:r>
            <a:r>
              <a:rPr lang="en-GB" sz="1800" b="1" dirty="0"/>
              <a:t>Naïve Bayes</a:t>
            </a:r>
            <a:r>
              <a:rPr lang="en-GB" sz="1800" dirty="0"/>
              <a:t> and </a:t>
            </a:r>
            <a:r>
              <a:rPr lang="en-GB" sz="1800" b="1" dirty="0"/>
              <a:t>Bayesian Networks</a:t>
            </a:r>
            <a:r>
              <a:rPr lang="en-GB" sz="1800" dirty="0"/>
              <a:t> efficiently handle uncertainty and provide interpretable weather predictions.</a:t>
            </a:r>
          </a:p>
          <a:p>
            <a:r>
              <a:rPr lang="en-GB" sz="1800" dirty="0"/>
              <a:t>This approach models </a:t>
            </a:r>
            <a:r>
              <a:rPr lang="en-GB" sz="1800" b="1" dirty="0"/>
              <a:t>how different weather parameters influence the probability of </a:t>
            </a:r>
            <a:r>
              <a:rPr lang="en-GB" sz="1800" b="1" dirty="0" err="1"/>
              <a:t>favorable</a:t>
            </a:r>
            <a:r>
              <a:rPr lang="en-GB" sz="1800" b="1" dirty="0"/>
              <a:t> conditions.</a:t>
            </a:r>
            <a:endParaRPr lang="en-GB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070" y="2199596"/>
            <a:ext cx="4981575" cy="75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4125" y="3962400"/>
            <a:ext cx="3790950" cy="361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72C435A-10F7-BFC5-00EC-58E40C445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3F62645-36EF-8091-6776-B59E845F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xmlns:a14="http://schemas.microsoft.com/office/drawing/2010/main" xmlns:mc="http://schemas.openxmlformats.org/markup-compatibility/2006" id="{D43F1624-D8B0-39D8-1C6F-BCD4B3C02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7" y="789119"/>
            <a:ext cx="11669486" cy="58729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sz="2900" b="1" dirty="0" smtClean="0"/>
              <a:t>ALGORITHM:</a:t>
            </a:r>
          </a:p>
          <a:p>
            <a:pPr marL="0" indent="0">
              <a:buNone/>
            </a:pPr>
            <a:r>
              <a:rPr lang="en-GB" sz="2900" b="1" dirty="0" smtClean="0"/>
              <a:t>1</a:t>
            </a:r>
            <a:r>
              <a:rPr lang="en-GB" sz="2900" b="1" dirty="0"/>
              <a:t>. Prepare Dataset</a:t>
            </a:r>
            <a:endParaRPr lang="en-GB" sz="2900" dirty="0"/>
          </a:p>
          <a:p>
            <a:r>
              <a:rPr lang="en-GB" sz="2900" dirty="0"/>
              <a:t>Load historical weather data with attributes: </a:t>
            </a:r>
            <a:r>
              <a:rPr lang="en-GB" sz="2900" i="1" dirty="0"/>
              <a:t>Outlook, Temperature, Humidity,</a:t>
            </a:r>
            <a:r>
              <a:rPr lang="en-GB" sz="2900" dirty="0"/>
              <a:t> and </a:t>
            </a:r>
            <a:r>
              <a:rPr lang="en-GB" sz="2900" i="1" dirty="0"/>
              <a:t>Windy</a:t>
            </a:r>
            <a:r>
              <a:rPr lang="en-GB" sz="2900" dirty="0"/>
              <a:t>.</a:t>
            </a:r>
          </a:p>
          <a:p>
            <a:r>
              <a:rPr lang="en-GB" sz="2900" dirty="0"/>
              <a:t>Encode categorical values numerically using </a:t>
            </a:r>
            <a:r>
              <a:rPr lang="en-GB" sz="2900" b="1" dirty="0"/>
              <a:t>Label Encoding</a:t>
            </a:r>
            <a:r>
              <a:rPr lang="en-GB" sz="2900" dirty="0"/>
              <a:t>.</a:t>
            </a:r>
          </a:p>
          <a:p>
            <a:r>
              <a:rPr lang="en-GB" sz="2900" dirty="0"/>
              <a:t>Split the dataset into training and testing sets for model evaluation.</a:t>
            </a:r>
          </a:p>
          <a:p>
            <a:pPr marL="0" indent="0">
              <a:buNone/>
            </a:pPr>
            <a:r>
              <a:rPr lang="en-GB" sz="2900" b="1" dirty="0"/>
              <a:t>2. Train Naïve Bayes Classifier</a:t>
            </a:r>
            <a:endParaRPr lang="en-GB" sz="2900" dirty="0"/>
          </a:p>
          <a:p>
            <a:r>
              <a:rPr lang="en-GB" sz="2900" dirty="0"/>
              <a:t>Train the </a:t>
            </a:r>
            <a:r>
              <a:rPr lang="en-GB" sz="2900" b="1" dirty="0"/>
              <a:t>Categorical Naïve Bayes</a:t>
            </a:r>
            <a:r>
              <a:rPr lang="en-GB" sz="2900" dirty="0"/>
              <a:t> model on the weather dataset.</a:t>
            </a:r>
          </a:p>
          <a:p>
            <a:r>
              <a:rPr lang="en-GB" sz="2900" dirty="0"/>
              <a:t>Learn conditional probabilities of each weather attribute.</a:t>
            </a:r>
          </a:p>
          <a:p>
            <a:r>
              <a:rPr lang="en-GB" sz="2900" dirty="0"/>
              <a:t>Predict whether the weather is </a:t>
            </a:r>
            <a:r>
              <a:rPr lang="en-GB" sz="2900" b="1" dirty="0"/>
              <a:t>Good</a:t>
            </a:r>
            <a:r>
              <a:rPr lang="en-GB" sz="2900" dirty="0"/>
              <a:t> or </a:t>
            </a:r>
            <a:r>
              <a:rPr lang="en-GB" sz="2900" b="1" dirty="0"/>
              <a:t>Bad</a:t>
            </a:r>
            <a:r>
              <a:rPr lang="en-GB" sz="2900" dirty="0"/>
              <a:t> based on input values.</a:t>
            </a:r>
          </a:p>
          <a:p>
            <a:pPr marL="0" indent="0">
              <a:buNone/>
            </a:pPr>
            <a:r>
              <a:rPr lang="en-GB" sz="2900" b="1" dirty="0"/>
              <a:t>3. Perform Inference</a:t>
            </a:r>
            <a:endParaRPr lang="en-GB" sz="2900" dirty="0"/>
          </a:p>
          <a:p>
            <a:r>
              <a:rPr lang="en-GB" sz="2900" dirty="0"/>
              <a:t>For given evidence (weather inputs), compute the probability of a good condition</a:t>
            </a:r>
            <a:r>
              <a:rPr lang="en-GB" sz="2900" dirty="0" smtClean="0"/>
              <a:t>:</a:t>
            </a:r>
            <a:endParaRPr lang="en-GB" sz="2900" dirty="0"/>
          </a:p>
          <a:p>
            <a:pPr marL="0" indent="0">
              <a:buNone/>
            </a:pPr>
            <a:r>
              <a:rPr lang="en-GB" sz="2900" b="1" dirty="0" smtClean="0"/>
              <a:t>4</a:t>
            </a:r>
            <a:r>
              <a:rPr lang="en-GB" sz="2900" b="1" dirty="0"/>
              <a:t>. Predict Scenarios</a:t>
            </a:r>
            <a:endParaRPr lang="en-GB" sz="2900" dirty="0"/>
          </a:p>
          <a:p>
            <a:r>
              <a:rPr lang="en-GB" sz="2900" dirty="0"/>
              <a:t>User enters weather details via the </a:t>
            </a:r>
            <a:r>
              <a:rPr lang="en-GB" sz="2900" b="1" dirty="0" err="1"/>
              <a:t>Tkinter</a:t>
            </a:r>
            <a:r>
              <a:rPr lang="en-GB" sz="2900" b="1" dirty="0"/>
              <a:t> GUI</a:t>
            </a:r>
            <a:r>
              <a:rPr lang="en-GB" sz="2900" dirty="0"/>
              <a:t>.</a:t>
            </a:r>
          </a:p>
          <a:p>
            <a:r>
              <a:rPr lang="en-GB" sz="2900" dirty="0"/>
              <a:t>The model predicts and displays whether the conditions are suitable for outdoor activity.</a:t>
            </a:r>
          </a:p>
          <a:p>
            <a:r>
              <a:rPr lang="en-GB" sz="2900" dirty="0"/>
              <a:t>Handles uncertain or mixed inputs effectively using probabilistic reasoning.</a:t>
            </a:r>
          </a:p>
          <a:p>
            <a:pPr marL="0" indent="0">
              <a:buNone/>
            </a:pPr>
            <a:r>
              <a:rPr lang="en-GB" sz="2900" b="1" dirty="0"/>
              <a:t>5. Visualize Results</a:t>
            </a:r>
            <a:endParaRPr lang="en-GB" sz="2900" dirty="0"/>
          </a:p>
          <a:p>
            <a:r>
              <a:rPr lang="en-GB" sz="2900" dirty="0"/>
              <a:t>Display prediction results in a user-friendly message box.</a:t>
            </a:r>
          </a:p>
          <a:p>
            <a:r>
              <a:rPr lang="en-GB" sz="2900" dirty="0"/>
              <a:t>Show comparative outcomes between different weather conditions.</a:t>
            </a:r>
          </a:p>
          <a:p>
            <a:r>
              <a:rPr lang="en-GB" sz="2900" dirty="0"/>
              <a:t>Demonstrate how </a:t>
            </a:r>
            <a:r>
              <a:rPr lang="en-GB" sz="2900" b="1" dirty="0"/>
              <a:t>AI reasoning</a:t>
            </a:r>
            <a:r>
              <a:rPr lang="en-GB" sz="2900" dirty="0"/>
              <a:t> supports weather-based decision making.</a:t>
            </a:r>
          </a:p>
          <a:p>
            <a:pPr lvl="1"/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EF90121-F38D-D79C-3D65-B6D35C0C1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14EE3686-D39B-BA2A-7691-6B642EA98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181" y="3594849"/>
            <a:ext cx="3408362" cy="510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37271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xmlns="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0761792"/>
              </p:ext>
            </p:extLst>
          </p:nvPr>
        </p:nvGraphicFramePr>
        <p:xfrm>
          <a:off x="1854200" y="2205222"/>
          <a:ext cx="8128000" cy="12801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xmlns="" val="40520043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xmlns="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39936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solidFill>
                            <a:schemeClr val="tx1"/>
                          </a:solidFill>
                        </a:rPr>
                        <a:t>https://github.com/dharrini06/WeatherPredictionAI/blob/main/weather_prediction.py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99620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B511744-1841-7314-5231-7CC4C07D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4822371" cy="4944788"/>
          </a:xfrm>
        </p:spPr>
        <p:txBody>
          <a:bodyPr/>
          <a:lstStyle/>
          <a:p>
            <a:r>
              <a:rPr lang="en-GB" dirty="0"/>
              <a:t>The Weather Prediction System uses a user-friendly </a:t>
            </a:r>
            <a:r>
              <a:rPr lang="en-GB" dirty="0" err="1"/>
              <a:t>Tkinter</a:t>
            </a:r>
            <a:r>
              <a:rPr lang="en-GB" dirty="0"/>
              <a:t> interface where users select weather conditions (Outlook, Temperature, Humidity, Windy</a:t>
            </a:r>
            <a:r>
              <a:rPr lang="en-GB" dirty="0" smtClean="0"/>
              <a:t>).</a:t>
            </a:r>
            <a:br>
              <a:rPr lang="en-GB" dirty="0" smtClean="0"/>
            </a:br>
            <a:endParaRPr lang="en-GB" dirty="0" smtClean="0"/>
          </a:p>
          <a:p>
            <a:r>
              <a:rPr lang="en-GB" dirty="0" smtClean="0"/>
              <a:t>After </a:t>
            </a:r>
            <a:r>
              <a:rPr lang="en-GB" dirty="0"/>
              <a:t>clicking </a:t>
            </a:r>
            <a:r>
              <a:rPr lang="en-GB" b="1" dirty="0"/>
              <a:t>“Predict Weather”</a:t>
            </a:r>
            <a:r>
              <a:rPr lang="en-GB" dirty="0"/>
              <a:t>, the Naïve Bayes model displays whether conditions are suitable to </a:t>
            </a:r>
            <a:r>
              <a:rPr lang="en-GB" b="1" dirty="0"/>
              <a:t>Play</a:t>
            </a:r>
            <a:r>
              <a:rPr lang="en-GB" dirty="0"/>
              <a:t> or </a:t>
            </a:r>
            <a:r>
              <a:rPr lang="en-GB" b="1" dirty="0"/>
              <a:t>Not Play</a:t>
            </a:r>
            <a:r>
              <a:rPr lang="en-GB" dirty="0"/>
              <a:t>.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5595" y="1207749"/>
            <a:ext cx="4505954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B511744-1841-7314-5231-7CC4C07D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4822371" cy="494478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This screen displays the </a:t>
            </a:r>
            <a:r>
              <a:rPr lang="en-GB" b="1" dirty="0"/>
              <a:t>Weather Prediction System</a:t>
            </a:r>
            <a:r>
              <a:rPr lang="en-GB" dirty="0"/>
              <a:t> after the user has selected input values for all weather attributes — </a:t>
            </a:r>
            <a:r>
              <a:rPr lang="en-GB" i="1" dirty="0"/>
              <a:t>Sunny</a:t>
            </a:r>
            <a:r>
              <a:rPr lang="en-GB" dirty="0"/>
              <a:t> outlook, </a:t>
            </a:r>
            <a:r>
              <a:rPr lang="en-GB" i="1" dirty="0"/>
              <a:t>Mild</a:t>
            </a:r>
            <a:r>
              <a:rPr lang="en-GB" dirty="0"/>
              <a:t> temperature, </a:t>
            </a:r>
            <a:r>
              <a:rPr lang="en-GB" i="1" dirty="0"/>
              <a:t>Normal</a:t>
            </a:r>
            <a:r>
              <a:rPr lang="en-GB" dirty="0"/>
              <a:t> humidity, and </a:t>
            </a:r>
            <a:r>
              <a:rPr lang="en-GB" i="1" dirty="0"/>
              <a:t>No wind</a:t>
            </a:r>
            <a:r>
              <a:rPr lang="en-GB" dirty="0"/>
              <a:t>.</a:t>
            </a:r>
            <a:br>
              <a:rPr lang="en-GB" dirty="0"/>
            </a:br>
            <a:endParaRPr lang="en-GB" dirty="0" smtClean="0"/>
          </a:p>
          <a:p>
            <a:r>
              <a:rPr lang="en-GB" dirty="0" smtClean="0"/>
              <a:t>These </a:t>
            </a:r>
            <a:r>
              <a:rPr lang="en-GB" dirty="0"/>
              <a:t>inputs are passed to the </a:t>
            </a:r>
            <a:r>
              <a:rPr lang="en-GB" b="1" dirty="0"/>
              <a:t>Naïve Bayes model</a:t>
            </a:r>
            <a:r>
              <a:rPr lang="en-GB" dirty="0"/>
              <a:t> when the user clicks </a:t>
            </a:r>
            <a:r>
              <a:rPr lang="en-GB" b="1" dirty="0"/>
              <a:t>“Predict Weather”</a:t>
            </a:r>
            <a:r>
              <a:rPr lang="en-GB" dirty="0"/>
              <a:t> to determine whether the conditions are suitable for outdoor play.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4872" y="1338377"/>
            <a:ext cx="4496427" cy="484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605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B511744-1841-7314-5231-7CC4C07D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4822371" cy="494478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This pop-up window displays the </a:t>
            </a:r>
            <a:r>
              <a:rPr lang="en-GB" b="1" dirty="0"/>
              <a:t>final prediction result</a:t>
            </a:r>
            <a:r>
              <a:rPr lang="en-GB" dirty="0"/>
              <a:t> generated by the trained </a:t>
            </a:r>
            <a:r>
              <a:rPr lang="en-GB" b="1" dirty="0"/>
              <a:t>Naïve Bayes model</a:t>
            </a:r>
            <a:r>
              <a:rPr lang="en-GB" dirty="0"/>
              <a:t>.</a:t>
            </a:r>
            <a:br>
              <a:rPr lang="en-GB" dirty="0"/>
            </a:br>
            <a:endParaRPr lang="en-GB" dirty="0" smtClean="0"/>
          </a:p>
          <a:p>
            <a:r>
              <a:rPr lang="en-GB" dirty="0" smtClean="0"/>
              <a:t>Based </a:t>
            </a:r>
            <a:r>
              <a:rPr lang="en-GB" dirty="0"/>
              <a:t>on the user’s selected weather inputs, the system predicts </a:t>
            </a:r>
            <a:r>
              <a:rPr lang="en-GB" b="1" dirty="0"/>
              <a:t>“Play (Good Weather)”</a:t>
            </a:r>
            <a:r>
              <a:rPr lang="en-GB" dirty="0"/>
              <a:t>, indicating that the weather conditions are suitable for outdoor activities.</a:t>
            </a:r>
            <a:br>
              <a:rPr lang="en-GB" dirty="0"/>
            </a:br>
            <a:r>
              <a:rPr lang="en-GB" dirty="0"/>
              <a:t>The result box provides a clear and simple output for user understanding.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8"/>
          <a:stretch/>
        </p:blipFill>
        <p:spPr>
          <a:xfrm>
            <a:off x="6537413" y="1654629"/>
            <a:ext cx="4566016" cy="329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78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 smtClean="0"/>
              <a:t>Results</a:t>
            </a:r>
            <a:endParaRPr lang="en-GB" sz="2000" b="1" dirty="0"/>
          </a:p>
          <a:p>
            <a:r>
              <a:rPr lang="en-GB" sz="2000" dirty="0"/>
              <a:t>The </a:t>
            </a:r>
            <a:r>
              <a:rPr lang="en-GB" sz="2000" b="1" dirty="0"/>
              <a:t>Naïve Bayes model</a:t>
            </a:r>
            <a:r>
              <a:rPr lang="en-GB" sz="2000" dirty="0"/>
              <a:t> successfully predicts whether outdoor play is possible based on given weather conditions.</a:t>
            </a:r>
          </a:p>
          <a:p>
            <a:r>
              <a:rPr lang="en-GB" sz="2000" dirty="0"/>
              <a:t>The system </a:t>
            </a:r>
            <a:r>
              <a:rPr lang="en-GB" sz="2000" dirty="0" err="1"/>
              <a:t>analyzes</a:t>
            </a:r>
            <a:r>
              <a:rPr lang="en-GB" sz="2000" dirty="0"/>
              <a:t> four key weather factors — </a:t>
            </a:r>
            <a:r>
              <a:rPr lang="en-GB" sz="2000" b="1" dirty="0"/>
              <a:t>Outlook, Temperature, Humidity,</a:t>
            </a:r>
            <a:r>
              <a:rPr lang="en-GB" sz="2000" dirty="0"/>
              <a:t> and </a:t>
            </a:r>
            <a:r>
              <a:rPr lang="en-GB" sz="2000" b="1" dirty="0"/>
              <a:t>Windy</a:t>
            </a:r>
            <a:r>
              <a:rPr lang="en-GB" sz="2000" dirty="0"/>
              <a:t> — to determine the outcome.</a:t>
            </a:r>
          </a:p>
          <a:p>
            <a:r>
              <a:rPr lang="en-GB" sz="2000" dirty="0"/>
              <a:t>Predictions are </a:t>
            </a:r>
            <a:r>
              <a:rPr lang="en-GB" sz="2000" b="1" dirty="0"/>
              <a:t>consistent with realistic scenarios</a:t>
            </a:r>
            <a:r>
              <a:rPr lang="en-GB" sz="2000" dirty="0"/>
              <a:t>, e.g., </a:t>
            </a:r>
            <a:r>
              <a:rPr lang="en-GB" sz="2000" i="1" dirty="0"/>
              <a:t>Sunny and Mild</a:t>
            </a:r>
            <a:r>
              <a:rPr lang="en-GB" sz="2000" dirty="0"/>
              <a:t> → Play, </a:t>
            </a:r>
            <a:r>
              <a:rPr lang="en-GB" sz="2000" i="1" dirty="0"/>
              <a:t>Rainy with High Humidity</a:t>
            </a:r>
            <a:r>
              <a:rPr lang="en-GB" sz="2000" dirty="0"/>
              <a:t> → Don’t Play.</a:t>
            </a:r>
          </a:p>
          <a:p>
            <a:r>
              <a:rPr lang="en-GB" sz="2000" dirty="0"/>
              <a:t>The </a:t>
            </a:r>
            <a:r>
              <a:rPr lang="en-GB" sz="2000" b="1" dirty="0" err="1"/>
              <a:t>Tkinter</a:t>
            </a:r>
            <a:r>
              <a:rPr lang="en-GB" sz="2000" b="1" dirty="0"/>
              <a:t>-based GUI</a:t>
            </a:r>
            <a:r>
              <a:rPr lang="en-GB" sz="2000" dirty="0"/>
              <a:t> allows users to interactively select weather inputs and instantly view prediction results.</a:t>
            </a:r>
          </a:p>
          <a:p>
            <a:r>
              <a:rPr lang="en-GB" sz="2000" dirty="0"/>
              <a:t>The system provides </a:t>
            </a:r>
            <a:r>
              <a:rPr lang="en-GB" sz="2000" b="1" dirty="0"/>
              <a:t>accurate, interpretable, and probabilistic</a:t>
            </a:r>
            <a:r>
              <a:rPr lang="en-GB" sz="2000" dirty="0"/>
              <a:t> predictions even with uncertain input data.</a:t>
            </a:r>
          </a:p>
          <a:p>
            <a:r>
              <a:rPr lang="en-GB" sz="2000" dirty="0"/>
              <a:t>Compared to rule-based or static models, this approach offers </a:t>
            </a:r>
            <a:r>
              <a:rPr lang="en-GB" sz="2000" b="1" dirty="0"/>
              <a:t>real-time prediction</a:t>
            </a:r>
            <a:r>
              <a:rPr lang="en-GB" sz="2000" dirty="0"/>
              <a:t> and </a:t>
            </a:r>
            <a:r>
              <a:rPr lang="en-GB" sz="2000" b="1" dirty="0"/>
              <a:t>better decision-making under uncertainty</a:t>
            </a:r>
            <a:r>
              <a:rPr lang="en-GB" sz="2000" dirty="0"/>
              <a:t>.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FAB1F08-ACBA-74D4-21C7-1877C96B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1CD231F-4F31-F7C1-0756-E5AB66863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39BF234-03FB-99B7-1FAD-E73A077F6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pPr marL="0" indent="0">
              <a:buNone/>
            </a:pPr>
            <a:r>
              <a:rPr lang="en-GB" sz="2000" b="1" dirty="0" smtClean="0"/>
              <a:t>Future </a:t>
            </a:r>
            <a:r>
              <a:rPr lang="en-GB" sz="2000" b="1" dirty="0"/>
              <a:t>Enhancements</a:t>
            </a:r>
          </a:p>
          <a:p>
            <a:r>
              <a:rPr lang="en-GB" sz="2000" dirty="0"/>
              <a:t>Integrate </a:t>
            </a:r>
            <a:r>
              <a:rPr lang="en-GB" sz="2000" b="1" dirty="0"/>
              <a:t>real-time weather data</a:t>
            </a:r>
            <a:r>
              <a:rPr lang="en-GB" sz="2000" dirty="0"/>
              <a:t> from APIs (e.g., </a:t>
            </a:r>
            <a:r>
              <a:rPr lang="en-GB" sz="2000" dirty="0" err="1"/>
              <a:t>OpenWeatherMap</a:t>
            </a:r>
            <a:r>
              <a:rPr lang="en-GB" sz="2000" dirty="0"/>
              <a:t>) for more accurate and up-to-date predictions.</a:t>
            </a:r>
          </a:p>
          <a:p>
            <a:r>
              <a:rPr lang="en-GB" sz="2000" dirty="0"/>
              <a:t>Extend the model to predict </a:t>
            </a:r>
            <a:r>
              <a:rPr lang="en-GB" sz="2000" b="1" dirty="0"/>
              <a:t>different outdoor activities</a:t>
            </a:r>
            <a:r>
              <a:rPr lang="en-GB" sz="2000" dirty="0"/>
              <a:t> based on varying weather conditions.</a:t>
            </a:r>
          </a:p>
          <a:p>
            <a:r>
              <a:rPr lang="en-GB" sz="2000" dirty="0"/>
              <a:t>Add </a:t>
            </a:r>
            <a:r>
              <a:rPr lang="en-GB" sz="2000" b="1" dirty="0"/>
              <a:t>more features</a:t>
            </a:r>
            <a:r>
              <a:rPr lang="en-GB" sz="2000" dirty="0"/>
              <a:t> such as time of day, season, or location to enhance model precision.</a:t>
            </a:r>
          </a:p>
          <a:p>
            <a:r>
              <a:rPr lang="en-GB" sz="2000" dirty="0"/>
              <a:t>Combine the </a:t>
            </a:r>
            <a:r>
              <a:rPr lang="en-GB" sz="2000" b="1" dirty="0"/>
              <a:t>Naïve Bayes model</a:t>
            </a:r>
            <a:r>
              <a:rPr lang="en-GB" sz="2000" dirty="0"/>
              <a:t> with advanced machine learning algorithms for improved performance.</a:t>
            </a:r>
          </a:p>
          <a:p>
            <a:r>
              <a:rPr lang="en-GB" sz="2000" dirty="0"/>
              <a:t>Develop a </a:t>
            </a:r>
            <a:r>
              <a:rPr lang="en-GB" sz="2000" b="1" dirty="0"/>
              <a:t>web or mobile version</a:t>
            </a:r>
            <a:r>
              <a:rPr lang="en-GB" sz="2000" dirty="0"/>
              <a:t> of the GUI for easier user access and live predictions.</a:t>
            </a:r>
          </a:p>
          <a:p>
            <a:r>
              <a:rPr lang="en-GB" sz="2000" dirty="0"/>
              <a:t>Include </a:t>
            </a:r>
            <a:r>
              <a:rPr lang="en-GB" sz="2000" b="1" dirty="0"/>
              <a:t>explainable AI features</a:t>
            </a:r>
            <a:r>
              <a:rPr lang="en-GB" sz="2000" dirty="0"/>
              <a:t> to display how each weather factor influences the final prediction.</a:t>
            </a:r>
          </a:p>
          <a:p>
            <a:r>
              <a:rPr lang="en-GB" sz="2000" dirty="0"/>
              <a:t>Provide </a:t>
            </a:r>
            <a:r>
              <a:rPr lang="en-GB" sz="2000" b="1" dirty="0"/>
              <a:t>visual feedback</a:t>
            </a:r>
            <a:r>
              <a:rPr lang="en-GB" sz="2000" dirty="0"/>
              <a:t> such as probability bars or color-coded indicators for better interpretation.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C9B2E9B-C1CA-3A86-8D9B-E24009B6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5D22F1A-313A-2BA7-A778-DA35C0DFD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879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2400" b="1" dirty="0"/>
              <a:t>References</a:t>
            </a:r>
          </a:p>
          <a:p>
            <a:r>
              <a:rPr lang="en-IN" sz="2400" dirty="0"/>
              <a:t>Russell, S., &amp; </a:t>
            </a:r>
            <a:r>
              <a:rPr lang="en-IN" sz="2400" dirty="0" err="1"/>
              <a:t>Norvig</a:t>
            </a:r>
            <a:r>
              <a:rPr lang="en-IN" sz="2400" dirty="0"/>
              <a:t>, P. (2020). </a:t>
            </a:r>
            <a:r>
              <a:rPr lang="en-IN" sz="2400" i="1" dirty="0"/>
              <a:t>Artificial Intelligence: A Modern Approach</a:t>
            </a:r>
            <a:r>
              <a:rPr lang="en-IN" sz="2400" dirty="0"/>
              <a:t> (4th Edition). </a:t>
            </a:r>
            <a:r>
              <a:rPr lang="en-IN" sz="2400" dirty="0">
                <a:hlinkClick r:id="rId2"/>
              </a:rPr>
              <a:t>https://aima.cs.berkeley.edu/</a:t>
            </a:r>
            <a:endParaRPr lang="en-IN" sz="2400" dirty="0"/>
          </a:p>
          <a:p>
            <a:r>
              <a:rPr lang="en-IN" sz="2400" dirty="0" err="1"/>
              <a:t>TutorialsPoint</a:t>
            </a:r>
            <a:r>
              <a:rPr lang="en-IN" sz="2400" dirty="0"/>
              <a:t> – </a:t>
            </a:r>
            <a:r>
              <a:rPr lang="en-IN" sz="2400" i="1" dirty="0"/>
              <a:t>Naïve Bayes Classifier in Python.</a:t>
            </a:r>
            <a:r>
              <a:rPr lang="en-IN" sz="2400" dirty="0"/>
              <a:t> https://www.tutorialspoint.com/machine_learning_with_python/machine_learning_with_python_naive_bayes_algorithm.htm</a:t>
            </a:r>
          </a:p>
          <a:p>
            <a:r>
              <a:rPr lang="en-IN" sz="2400" dirty="0" err="1"/>
              <a:t>GeeksforGeeks</a:t>
            </a:r>
            <a:r>
              <a:rPr lang="en-IN" sz="2400" dirty="0"/>
              <a:t> – </a:t>
            </a:r>
            <a:r>
              <a:rPr lang="en-IN" sz="2400" i="1" dirty="0"/>
              <a:t>Naïve Bayes and Probabilistic Reasoning in Python.</a:t>
            </a:r>
            <a:r>
              <a:rPr lang="en-IN" sz="2400" dirty="0"/>
              <a:t> https://www.geeksforgeeks.org/naive-bayes-classifier/</a:t>
            </a:r>
          </a:p>
          <a:p>
            <a:r>
              <a:rPr lang="en-IN" sz="2400" dirty="0"/>
              <a:t>Towards Data Science – </a:t>
            </a:r>
            <a:r>
              <a:rPr lang="en-IN" sz="2400" i="1" dirty="0"/>
              <a:t>Understanding Probabilistic Reasoning and Weather Prediction Models.</a:t>
            </a:r>
            <a:r>
              <a:rPr lang="en-IN" sz="2400" dirty="0"/>
              <a:t> https://towardsdatascience.com/</a:t>
            </a:r>
          </a:p>
          <a:p>
            <a:r>
              <a:rPr lang="en-IN" sz="2400" dirty="0"/>
              <a:t>Python Documentation – </a:t>
            </a:r>
            <a:r>
              <a:rPr lang="en-IN" sz="2400" i="1" dirty="0" err="1"/>
              <a:t>Tkinter</a:t>
            </a:r>
            <a:r>
              <a:rPr lang="en-IN" sz="2400" i="1" dirty="0"/>
              <a:t> GUI Library.</a:t>
            </a:r>
            <a:r>
              <a:rPr lang="en-IN" sz="2400" dirty="0"/>
              <a:t> </a:t>
            </a:r>
            <a:r>
              <a:rPr lang="en-IN" sz="2400" dirty="0">
                <a:hlinkClick r:id="rId3"/>
              </a:rPr>
              <a:t>https://docs.python.org/3/library/tkinter.html</a:t>
            </a:r>
            <a:endParaRPr lang="en-IN" sz="2400" dirty="0"/>
          </a:p>
          <a:p>
            <a:r>
              <a:rPr lang="en-IN" sz="2400" dirty="0"/>
              <a:t>Pandas Documentation – </a:t>
            </a:r>
            <a:r>
              <a:rPr lang="en-IN" sz="2400" i="1" dirty="0"/>
              <a:t>Data Handling and </a:t>
            </a:r>
            <a:r>
              <a:rPr lang="en-IN" sz="2400" i="1" dirty="0" err="1"/>
              <a:t>Preprocessing</a:t>
            </a:r>
            <a:r>
              <a:rPr lang="en-IN" sz="2400" i="1" dirty="0"/>
              <a:t>.</a:t>
            </a:r>
            <a:r>
              <a:rPr lang="en-IN" sz="2400" dirty="0"/>
              <a:t> </a:t>
            </a:r>
            <a:r>
              <a:rPr lang="en-IN" sz="2400" dirty="0">
                <a:hlinkClick r:id="rId4"/>
              </a:rPr>
              <a:t>https://pandas.pydata.org/docs/</a:t>
            </a:r>
            <a:endParaRPr lang="en-IN" sz="2400" dirty="0"/>
          </a:p>
          <a:p>
            <a:r>
              <a:rPr lang="en-IN" sz="2400" dirty="0" err="1"/>
              <a:t>Scikit</a:t>
            </a:r>
            <a:r>
              <a:rPr lang="en-IN" sz="2400" dirty="0"/>
              <a:t>-learn Documentation – </a:t>
            </a:r>
            <a:r>
              <a:rPr lang="en-IN" sz="2400" i="1" dirty="0"/>
              <a:t>Naïve Bayes Implementation.</a:t>
            </a:r>
            <a:r>
              <a:rPr lang="en-IN" sz="2400" dirty="0"/>
              <a:t> </a:t>
            </a:r>
            <a:r>
              <a:rPr lang="en-IN" sz="2400" dirty="0">
                <a:hlinkClick r:id="rId5"/>
              </a:rPr>
              <a:t>https://scikit-learn.org/stable/modules/naive_bayes.html</a:t>
            </a:r>
            <a:endParaRPr lang="en-IN" sz="2400" dirty="0"/>
          </a:p>
          <a:p>
            <a:endParaRPr lang="en-IN" sz="2400" dirty="0"/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11/4/2025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</TotalTime>
  <Words>927</Words>
  <Application>Microsoft Office PowerPoint</Application>
  <PresentationFormat>Custom</PresentationFormat>
  <Paragraphs>116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DEPARTMENT OF CSE (ARTIFICIAL INTELLIGENCE AND MACHINE LEARNING) ACADEMIC YEAR 2025 - 2026 SEMESTER III ARTIFICIAL INTELLIGENCE LABORATORY  MINI PROJECT REVIEW   WEATHER PREDICTION USING NAÏVE BAYES CLASSIFIER AND PROBABILISTIC REASONING</vt:lpstr>
      <vt:lpstr>PROBLEM STATEMENT</vt:lpstr>
      <vt:lpstr>THEORETICAL BACKGROUND</vt:lpstr>
      <vt:lpstr>THEORETICAL BACKGROUND</vt:lpstr>
      <vt:lpstr>IMPLEMENTATION AND CODE</vt:lpstr>
      <vt:lpstr>OUTPUT AND RESULTS</vt:lpstr>
      <vt:lpstr>OUTPUT AND RESULTS</vt:lpstr>
      <vt:lpstr>OUTPUT AND RESULTS</vt:lpstr>
      <vt:lpstr>OUTPUT AND RESULTS</vt:lpstr>
      <vt:lpstr>OUTPUT AND RESULTS</vt:lpstr>
      <vt:lpstr>REFERENCES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DEPARTMENT OF CSE (ARTIFICIAL INTELLIGENCE AND MACHINE LEARNING) ACADEMIC YEAR 2025 - 2026 SEMESTER III ARTIFICIAL INTELLIGENCE LABORATORY  MINI PROJECT REVIEW   PREDICTING WEATHER CONDITIONS USING PROBABILISTIC REASONING</dc:title>
  <dc:creator>SANKAR GANESH K</dc:creator>
  <cp:lastModifiedBy>Dharrini</cp:lastModifiedBy>
  <cp:revision>19</cp:revision>
  <dcterms:created xsi:type="dcterms:W3CDTF">2025-10-18T08:57:34Z</dcterms:created>
  <dcterms:modified xsi:type="dcterms:W3CDTF">2025-11-04T17:10:54Z</dcterms:modified>
</cp:coreProperties>
</file>